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by introducing all group members. Then state the project title and one-line goal: a poker simulator where an AI makes decisions under uncertainty using Expectiminimax.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replaces a generic introduction. Briefly define the problem, the goal, and the final output. Keep it under 30–35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from top to bottom. Emphasize modular design: UI, engine, evaluator, AI, evaluation. This is much clearer than the previous unreadable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one hand from dealing to showdown, then mention the code modules that support this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say why minimax alone is not enough: poker has randomness. Then explain MAX, MIN, CHANCE and Monte Carlo in one minute. This replaces the unreadable old algorithm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replaces screenshot clutter with clear feature cards. Mention that the system is built in Python using Streamlit, pandas, matplotlib, and numpy.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these charts were generated from the project simulation code. Highlight cumulative profit and the distribution of per-hand outcomes. Keep wording honest: “representative run”, not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trade-off: smarter decisions vs more computation. This is an excellent discussion slide and more useful than generic “results and analysis”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useful because sir explicitly checks repo organization and code walkthrough. It helps us present smoothly and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 and honest. These improvements are easy to justify and align with AI course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the four points on screen and then stop. The Q&amp;A happens after the code/demo part, but this works as a clean closing slide for the PPT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6675120" cy="4389120"/>
          </a:xfrm>
          <a:prstGeom prst="roundRect">
            <a:avLst/>
          </a:prstGeom>
          <a:solidFill>
            <a:srgbClr val="131C19"/>
          </a:solidFill>
          <a:ln w="1905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43800" y="1143000"/>
            <a:ext cx="3977639" cy="4389120"/>
          </a:xfrm>
          <a:prstGeom prst="roundRect">
            <a:avLst/>
          </a:prstGeom>
          <a:solidFill>
            <a:srgbClr val="29704C"/>
          </a:solidFill>
          <a:ln w="1905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Development of a Poker Game Simulator</a:t>
            </a:r>
            <a:br/>
            <a:r>
              <a:t>with Expectiminimax AI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CSE440 — Artificial Intelligence | Section 01 | Instructor: Mohammad Shifat-E-Rabbi (MSRB)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9A04A"/>
                </a:solidFill>
                <a:latin typeface="Aptos Display"/>
              </a:defRPr>
            </a:pPr>
            <a:r>
              <a:t>Final Project Presentation</a:t>
            </a:r>
          </a:p>
          <a:p>
            <a:pPr>
              <a:defRPr sz="1800">
                <a:solidFill>
                  <a:srgbClr val="C4C9C6"/>
                </a:solidFill>
                <a:latin typeface="Aptos"/>
              </a:defRPr>
            </a:pPr>
            <a:r>
              <a:t>Group 7</a:t>
            </a:r>
          </a:p>
          <a:p>
            <a:br/>
            <a:pPr>
              <a:defRPr sz="1700">
                <a:solidFill>
                  <a:srgbClr val="F5F4EF"/>
                </a:solidFill>
                <a:latin typeface="Aptos"/>
              </a:defRPr>
            </a:pPr>
            <a:r>
              <a:t>Kazi Eraj Al Minahi Turjo — 1831906642</a:t>
            </a:r>
            <a:br/>
            <a:r>
              <a:t>Md. Sabbir Hossain — 2212642042</a:t>
            </a:r>
            <a:br/>
            <a:r>
              <a:t>Nashita Tasneem Noor — 2132126642</a:t>
            </a:r>
            <a:br/>
            <a:r>
              <a:t>Talha Imtiaz — 2012211642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08760"/>
            <a:ext cx="3337560" cy="640080"/>
          </a:xfrm>
          <a:prstGeom prst="roundRect">
            <a:avLst/>
          </a:prstGeom>
          <a:solidFill>
            <a:srgbClr val="F5F8F3"/>
          </a:solidFill>
          <a:ln>
            <a:solidFill>
              <a:srgbClr val="F5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8191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12222"/>
                </a:solidFill>
                <a:latin typeface="Aptos"/>
              </a:defRPr>
            </a:pPr>
            <a:r>
              <a:t>Game type</a:t>
            </a:r>
          </a:p>
          <a:p>
            <a:pPr>
              <a:defRPr sz="1400">
                <a:solidFill>
                  <a:srgbClr val="191919"/>
                </a:solidFill>
                <a:latin typeface="Aptos"/>
              </a:defRPr>
            </a:pPr>
            <a:r>
              <a:t>Texas Hold’em (simplified)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331720"/>
            <a:ext cx="3337560" cy="640080"/>
          </a:xfrm>
          <a:prstGeom prst="roundRect">
            <a:avLst/>
          </a:prstGeom>
          <a:solidFill>
            <a:srgbClr val="F5F8F3"/>
          </a:solidFill>
          <a:ln>
            <a:solidFill>
              <a:srgbClr val="F5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40487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12222"/>
                </a:solidFill>
                <a:latin typeface="Aptos"/>
              </a:defRPr>
            </a:pPr>
            <a:r>
              <a:t>AI core</a:t>
            </a:r>
          </a:p>
          <a:p>
            <a:pPr>
              <a:defRPr sz="1400">
                <a:solidFill>
                  <a:srgbClr val="191919"/>
                </a:solidFill>
                <a:latin typeface="Aptos"/>
              </a:defRPr>
            </a:pPr>
            <a:r>
              <a:t>Expectiminimax + Monte Carlo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154680"/>
            <a:ext cx="3337560" cy="640080"/>
          </a:xfrm>
          <a:prstGeom prst="roundRect">
            <a:avLst/>
          </a:prstGeom>
          <a:solidFill>
            <a:srgbClr val="F5F8F3"/>
          </a:solidFill>
          <a:ln>
            <a:solidFill>
              <a:srgbClr val="F5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22783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12222"/>
                </a:solidFill>
                <a:latin typeface="Aptos"/>
              </a:defRPr>
            </a:pPr>
            <a:r>
              <a:t>Interface</a:t>
            </a:r>
          </a:p>
          <a:p>
            <a:pPr>
              <a:defRPr sz="1400">
                <a:solidFill>
                  <a:srgbClr val="191919"/>
                </a:solidFill>
                <a:latin typeface="Aptos"/>
              </a:defRPr>
            </a:pPr>
            <a:r>
              <a:t>Streamlit tabs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77639"/>
            <a:ext cx="3337560" cy="640080"/>
          </a:xfrm>
          <a:prstGeom prst="roundRect">
            <a:avLst/>
          </a:prstGeom>
          <a:solidFill>
            <a:srgbClr val="F5F8F3"/>
          </a:solidFill>
          <a:ln>
            <a:solidFill>
              <a:srgbClr val="F5F8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50791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12222"/>
                </a:solidFill>
                <a:latin typeface="Aptos"/>
              </a:defRPr>
            </a:pPr>
            <a:r>
              <a:t>Focus</a:t>
            </a:r>
          </a:p>
          <a:p>
            <a:pPr>
              <a:defRPr sz="1400">
                <a:solidFill>
                  <a:srgbClr val="191919"/>
                </a:solidFill>
                <a:latin typeface="Aptos"/>
              </a:defRPr>
            </a:pPr>
            <a:r>
              <a:t>Decision-making under uncertainty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4754880"/>
            <a:ext cx="502920" cy="502920"/>
          </a:xfrm>
          <a:prstGeom prst="ellipse">
            <a:avLst/>
          </a:prstGeom>
          <a:solidFill>
            <a:srgbClr val="C9A04A"/>
          </a:solidFill>
          <a:ln>
            <a:solidFill>
              <a:srgbClr val="F5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4709160"/>
            <a:ext cx="502920" cy="502920"/>
          </a:xfrm>
          <a:prstGeom prst="ellipse">
            <a:avLst/>
          </a:prstGeom>
          <a:solidFill>
            <a:srgbClr val="DCDCDC"/>
          </a:solidFill>
          <a:ln>
            <a:solidFill>
              <a:srgbClr val="F5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0" y="4754880"/>
            <a:ext cx="502920" cy="502920"/>
          </a:xfrm>
          <a:prstGeom prst="ellipse">
            <a:avLst/>
          </a:prstGeom>
          <a:solidFill>
            <a:srgbClr val="B12222"/>
          </a:solidFill>
          <a:ln>
            <a:solidFill>
              <a:srgbClr val="F5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Project at a Glance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Why this project matters and what exactly we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66160" cy="1965960"/>
          </a:xfrm>
          <a:prstGeom prst="roundRect">
            <a:avLst/>
          </a:prstGeom>
          <a:solidFill>
            <a:srgbClr val="182420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32369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Poker is an imperfect-information game.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The AI does not know the opponent’s hidden cards.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Random card draws create uncertainty at every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66160" cy="1965960"/>
          </a:xfrm>
          <a:prstGeom prst="roundRect">
            <a:avLst/>
          </a:prstGeom>
          <a:solidFill>
            <a:srgbClr val="182420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344168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737360"/>
            <a:ext cx="32369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Build a playable Texas Hold’em simulator.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Use Expectiminimax to select strategic actions.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Show how AI search can work with randomness.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74720" cy="1965960"/>
          </a:xfrm>
          <a:prstGeom prst="roundRect">
            <a:avLst/>
          </a:prstGeom>
          <a:solidFill>
            <a:srgbClr val="182420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344168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737360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Interactive Streamlit interface.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Single-hand play and kid-friendly mode.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Simulation tab for repeated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10881360" cy="2103120"/>
          </a:xfrm>
          <a:prstGeom prst="roundRect">
            <a:avLst/>
          </a:prstGeom>
          <a:solidFill>
            <a:srgbClr val="142D25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767328"/>
            <a:ext cx="10552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Key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60520"/>
            <a:ext cx="1055217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The system combines a game engine, hand evaluation, Expectiminimax search, and Monte Carlo sampling. The AI examines legal actions, estimates expected value (EV), and chooses the action with the highest EV.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4EF"/>
                </a:solidFill>
                <a:latin typeface="Aptos Display"/>
              </a:defRPr>
            </a:pPr>
            <a:r>
              <a:t>System Architecture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Clean overview of the main components and data flow</a:t>
            </a:r>
          </a:p>
        </p:txBody>
      </p:sp>
      <p:pic>
        <p:nvPicPr>
          <p:cNvPr id="5" name="Picture 4" descr="architecture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34440"/>
            <a:ext cx="10607040" cy="60267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80160" y="5577840"/>
            <a:ext cx="9601200" cy="502920"/>
          </a:xfrm>
          <a:prstGeom prst="roundRect">
            <a:avLst/>
          </a:prstGeom>
          <a:solidFill>
            <a:srgbClr val="182420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5705856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5F4EF"/>
                </a:solidFill>
                <a:latin typeface="Aptos"/>
              </a:defRPr>
            </a:pPr>
            <a:r>
              <a:t>UI controls the interaction; the game engine manages each hand; the AI reasons over actions under uncertainty.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Game Flow and Core Modules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How a hand progresses inside the simulator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214838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4EF"/>
                </a:solidFill>
                <a:latin typeface="Aptos"/>
              </a:defRPr>
            </a:pPr>
            <a:r>
              <a:t>Pre-flop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286000"/>
            <a:ext cx="1005840" cy="0"/>
          </a:xfrm>
          <a:prstGeom prst="line">
            <a:avLst/>
          </a:prstGeom>
          <a:ln w="25400">
            <a:solidFill>
              <a:srgbClr val="C9A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743200" y="1828800"/>
            <a:ext cx="914400" cy="914400"/>
          </a:xfrm>
          <a:prstGeom prst="ellipse">
            <a:avLst/>
          </a:prstGeom>
          <a:solidFill>
            <a:srgbClr val="214838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4EF"/>
                </a:solidFill>
                <a:latin typeface="Aptos"/>
              </a:defRPr>
            </a:pPr>
            <a:r>
              <a:t>Flop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286000"/>
            <a:ext cx="1005840" cy="0"/>
          </a:xfrm>
          <a:prstGeom prst="line">
            <a:avLst/>
          </a:prstGeom>
          <a:ln w="25400">
            <a:solidFill>
              <a:srgbClr val="C9A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663440" y="1828800"/>
            <a:ext cx="914400" cy="914400"/>
          </a:xfrm>
          <a:prstGeom prst="ellipse">
            <a:avLst/>
          </a:prstGeom>
          <a:solidFill>
            <a:srgbClr val="214838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4EF"/>
                </a:solidFill>
                <a:latin typeface="Aptos"/>
              </a:defRPr>
            </a:pPr>
            <a:r>
              <a:t>Turn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286000"/>
            <a:ext cx="1005840" cy="0"/>
          </a:xfrm>
          <a:prstGeom prst="line">
            <a:avLst/>
          </a:prstGeom>
          <a:ln w="25400">
            <a:solidFill>
              <a:srgbClr val="C9A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583680" y="1828800"/>
            <a:ext cx="914400" cy="914400"/>
          </a:xfrm>
          <a:prstGeom prst="ellipse">
            <a:avLst/>
          </a:prstGeom>
          <a:solidFill>
            <a:srgbClr val="214838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4EF"/>
                </a:solidFill>
                <a:latin typeface="Aptos"/>
              </a:defRPr>
            </a:pPr>
            <a:r>
              <a:t>River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2286000"/>
            <a:ext cx="1005841" cy="0"/>
          </a:xfrm>
          <a:prstGeom prst="line">
            <a:avLst/>
          </a:prstGeom>
          <a:ln w="25400">
            <a:solidFill>
              <a:srgbClr val="C9A0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03920" y="1828800"/>
            <a:ext cx="914400" cy="914400"/>
          </a:xfrm>
          <a:prstGeom prst="ellipse">
            <a:avLst/>
          </a:prstGeom>
          <a:solidFill>
            <a:srgbClr val="602E15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F4EF"/>
                </a:solidFill>
                <a:latin typeface="Aptos"/>
              </a:defRPr>
            </a:pPr>
            <a:r>
              <a:t>Showdown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0391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4EF"/>
                </a:solidFill>
                <a:latin typeface="Aptos"/>
              </a:defRPr>
            </a:pPr>
            <a:r>
              <a:t>2 private</a:t>
            </a:r>
            <a:br/>
            <a:r>
              <a:t>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0391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4EF"/>
                </a:solidFill>
                <a:latin typeface="Aptos"/>
              </a:defRPr>
            </a:pPr>
            <a:r>
              <a:t>3 community</a:t>
            </a:r>
            <a:br/>
            <a:r>
              <a:t>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20391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4EF"/>
                </a:solidFill>
                <a:latin typeface="Aptos"/>
              </a:defRPr>
            </a:pPr>
            <a:r>
              <a:t>4th 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391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4EF"/>
                </a:solidFill>
                <a:latin typeface="Aptos"/>
              </a:defRPr>
            </a:pPr>
            <a:r>
              <a:t>5th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039112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F4EF"/>
                </a:solidFill>
                <a:latin typeface="Aptos"/>
              </a:defRPr>
            </a:pPr>
            <a:r>
              <a:t>Best hand</a:t>
            </a:r>
            <a:br/>
            <a:r>
              <a:t>wins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49039"/>
            <a:ext cx="10972800" cy="160020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858767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Main source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251959"/>
            <a:ext cx="10643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deck.py: cards and shuffling | player.py: player states and opponent strategy | poker_rules.py: 7-card hand ranking | game_engine.py: flow of each hand | expectiminimax.py: search and EV estimation | evaluation.py: automated simulations | main.py: Streamlit entry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Expectiminimax in Our Simulator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Simple, readable view of the search process</a:t>
            </a:r>
          </a:p>
        </p:txBody>
      </p:sp>
      <p:pic>
        <p:nvPicPr>
          <p:cNvPr id="5" name="Picture 4" descr="expectiminimax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766560" cy="38262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325880"/>
            <a:ext cx="3931920" cy="452628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435608"/>
            <a:ext cx="3602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How the AI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1828800"/>
            <a:ext cx="360273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MAX node: the AI compares fold, call/check, and discrete raise sizes.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MIN node: the opponent response is approximated with a simple policy.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CHANCE node: unknown cards are sampled from the remaining deck.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Leaf evaluation: Monte Carlo rollouts estimate hand strength and expected payoff.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Final choice: the action with the highest expected value is selected.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Implementation and User-Facing Features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What the user can actually do in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4023360"/>
          </a:xfrm>
          <a:prstGeom prst="roundRect">
            <a:avLst/>
          </a:prstGeom>
          <a:solidFill>
            <a:srgbClr val="1A2A26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3560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Play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31912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Runs a hand between the AI and the opponent.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Shows chips, pot, stage, community cards, and winner.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Displays root decision analysis for AI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4023360"/>
          </a:xfrm>
          <a:prstGeom prst="roundRect">
            <a:avLst/>
          </a:prstGeom>
          <a:solidFill>
            <a:srgbClr val="1A2A26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43560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Kid Play 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828800"/>
            <a:ext cx="31912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Beginner-friendly tab with simpler interaction.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Helps explain poker stages and possible actions.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Useful for demonstration and teaching.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520440" cy="4023360"/>
          </a:xfrm>
          <a:prstGeom prst="roundRect">
            <a:avLst/>
          </a:prstGeom>
          <a:solidFill>
            <a:srgbClr val="1A2A26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3560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Simulation &amp;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19125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Runs many automated hands.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Reports win rate, profit trends, and decision time.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Lets us compare the AI against a simpler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Experimental Evaluation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Representative automated run using the project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965960" cy="1143000"/>
          </a:xfrm>
          <a:prstGeom prst="roundRect">
            <a:avLst/>
          </a:prstGeom>
          <a:solidFill>
            <a:srgbClr val="131C19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17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4C9C6"/>
                </a:solidFill>
                <a:latin typeface="Aptos"/>
              </a:defRPr>
            </a:pPr>
            <a:r>
              <a:t>Hands simulated</a:t>
            </a:r>
          </a:p>
          <a:p>
            <a:pPr>
              <a:defRPr sz="2200" b="1">
                <a:solidFill>
                  <a:srgbClr val="F5F4EF"/>
                </a:solidFill>
                <a:latin typeface="Aptos Display"/>
              </a:defRPr>
            </a:pPr>
            <a:r>
              <a:t>200</a:t>
            </a:r>
          </a:p>
          <a:p>
            <a:pPr>
              <a:defRPr sz="1000">
                <a:solidFill>
                  <a:srgbClr val="C9A04A"/>
                </a:solidFill>
                <a:latin typeface="Aptos"/>
              </a:defRPr>
            </a:pPr>
            <a:r>
              <a:t>AI vs baseline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280160"/>
            <a:ext cx="1965960" cy="1143000"/>
          </a:xfrm>
          <a:prstGeom prst="roundRect">
            <a:avLst/>
          </a:prstGeom>
          <a:solidFill>
            <a:srgbClr val="131C19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417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4C9C6"/>
                </a:solidFill>
                <a:latin typeface="Aptos"/>
              </a:defRPr>
            </a:pPr>
            <a:r>
              <a:t>Expectiminimax win rate</a:t>
            </a:r>
          </a:p>
          <a:p>
            <a:pPr>
              <a:defRPr sz="2200" b="1">
                <a:solidFill>
                  <a:srgbClr val="F5F4EF"/>
                </a:solidFill>
                <a:latin typeface="Aptos Display"/>
              </a:defRPr>
            </a:pPr>
            <a:r>
              <a:t>55%</a:t>
            </a:r>
          </a:p>
          <a:p>
            <a:pPr>
              <a:defRPr sz="1000">
                <a:solidFill>
                  <a:srgbClr val="C9A04A"/>
                </a:solidFill>
                <a:latin typeface="Aptos"/>
              </a:defRPr>
            </a:pPr>
            <a:r>
              <a:t>higher than baseline in this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1280160"/>
            <a:ext cx="1965960" cy="1143000"/>
          </a:xfrm>
          <a:prstGeom prst="roundRect">
            <a:avLst/>
          </a:prstGeom>
          <a:solidFill>
            <a:srgbClr val="131C19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6088" y="1417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4C9C6"/>
                </a:solidFill>
                <a:latin typeface="Aptos"/>
              </a:defRPr>
            </a:pPr>
            <a:r>
              <a:t>Avg decision time</a:t>
            </a:r>
          </a:p>
          <a:p>
            <a:pPr>
              <a:defRPr sz="2200" b="1">
                <a:solidFill>
                  <a:srgbClr val="F5F4EF"/>
                </a:solidFill>
                <a:latin typeface="Aptos Display"/>
              </a:defRPr>
            </a:pPr>
            <a:r>
              <a:t>0.050 s</a:t>
            </a:r>
          </a:p>
          <a:p>
            <a:pPr>
              <a:defRPr sz="1000">
                <a:solidFill>
                  <a:srgbClr val="C9A04A"/>
                </a:solidFill>
                <a:latin typeface="Aptos"/>
              </a:defRPr>
            </a:pPr>
            <a:r>
              <a:t>more reasoning, higher cost</a:t>
            </a:r>
          </a:p>
        </p:txBody>
      </p:sp>
      <p:pic>
        <p:nvPicPr>
          <p:cNvPr id="11" name="Picture 10" descr="cumulative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6400800" cy="3600450"/>
          </a:xfrm>
          <a:prstGeom prst="rect">
            <a:avLst/>
          </a:prstGeom>
        </p:spPr>
      </p:pic>
      <p:pic>
        <p:nvPicPr>
          <p:cNvPr id="12" name="Picture 11" descr="delta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6974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What the Results Tell Us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Expectiminimax gives better strategic quality, but at a higher computational cost</a:t>
            </a:r>
          </a:p>
        </p:txBody>
      </p:sp>
      <p:pic>
        <p:nvPicPr>
          <p:cNvPr id="5" name="Picture 4" descr="comparis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669280" cy="31889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417320"/>
            <a:ext cx="4754880" cy="448056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1527048"/>
            <a:ext cx="4425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1920240"/>
            <a:ext cx="442569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In our representative run, Expectiminimax achieved a higher win rate than the fallback baseline.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The trade-off is time: search and Monte Carlo sampling make each decision slower.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This is expected because the AI is doing look-ahead reasoning instead of acting greedily.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Increasing depth or samples may improve decision quality, but also increases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GitHub and Code Walkthrough Map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How we will explain the repository during the code 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4892040"/>
          </a:xfrm>
          <a:prstGeom prst="roundRect">
            <a:avLst/>
          </a:prstGeom>
          <a:solidFill>
            <a:srgbClr val="131C19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17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5F4EF"/>
                </a:solidFill>
                <a:latin typeface="Consolas"/>
              </a:defRPr>
            </a:pPr>
            <a:r>
              <a:t>main.py</a:t>
            </a:r>
            <a:br/>
            <a:r>
              <a:t>├── poker_ai/</a:t>
            </a:r>
            <a:br/>
            <a:r>
              <a:t>│   ├── deck.py</a:t>
            </a:r>
            <a:br/>
            <a:r>
              <a:t>│   ├── player.py</a:t>
            </a:r>
            <a:br/>
            <a:r>
              <a:t>│   ├── poker_rules.py</a:t>
            </a:r>
            <a:br/>
            <a:r>
              <a:t>│   ├── game_engine.py</a:t>
            </a:r>
            <a:br/>
            <a:r>
              <a:t>│   ├── expectiminimax.py</a:t>
            </a:r>
            <a:br/>
            <a:r>
              <a:t>│   ├── evaluation.py</a:t>
            </a:r>
            <a:br/>
            <a:r>
              <a:t>│   ├── visualization.py</a:t>
            </a:r>
            <a:br/>
            <a:r>
              <a:t>│   └── kid_ui.py</a:t>
            </a:r>
            <a:br/>
            <a:r>
              <a:t>├── data/</a:t>
            </a:r>
            <a:br/>
            <a:r>
              <a:t>├── support/</a:t>
            </a:r>
            <a:br/>
            <a:r>
              <a:t>└── others/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03520" cy="489204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44168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Code explanation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737360"/>
            <a:ext cx="49743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1. Show the repo home page and README first.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2. Open main.py to show tab structure and application entry point.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3. Open game_engine.py to explain hand flow and showdown.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4. Open expectiminimax.py to explain MAX / MIN / CHANCE and EV.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5. Open evaluation.py to show simulation logic and metrics generation.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6. Finally, show others/ and the one-minute demo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Limitations and Future Work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What can be improved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448056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27048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488289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Simplified heads-up game setting.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Opponent model is basic rather than fully adaptive.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Search depth and sampling are limited to keep the UI responsive.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The evaluation is representative, not a full tournament-scale benchmark.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48056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27048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Stronger opponent modeling based on observed play style.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Alpha-beta style pruning or better abstractions for speed.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Richer GUI and more polished analytics dashboard.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Reinforcement learning or self-play for further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C4C9C6"/>
                </a:solidFill>
                <a:latin typeface="Aptos"/>
              </a:defRPr>
            </a:pPr>
            <a:r>
              <a:t>Group 7  |  Kazi Eraj Al Minahi Turjo • Md. Sabbir Hossain • Nashita Tasneem Noor • Talha Imtiaz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5F4EF"/>
                </a:solidFill>
                <a:latin typeface="Aptos Display"/>
              </a:defRPr>
            </a:pPr>
            <a:r>
              <a:t>Conclusion</a:t>
            </a:r>
          </a:p>
          <a:p>
            <a:pPr>
              <a:defRPr sz="1300">
                <a:solidFill>
                  <a:srgbClr val="C4C9C6"/>
                </a:solidFill>
                <a:latin typeface="Aptos"/>
              </a:defRPr>
            </a:pPr>
            <a:r>
              <a:t>Final take-away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607040" cy="3291840"/>
          </a:xfrm>
          <a:prstGeom prst="roundRect">
            <a:avLst/>
          </a:prstGeom>
          <a:solidFill>
            <a:srgbClr val="131C19"/>
          </a:solidFill>
          <a:ln w="16510"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527048"/>
            <a:ext cx="10277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04A"/>
                </a:solidFill>
                <a:latin typeface="Aptos Display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10277856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We developed a modular poker simulator that supports complete hand flow, hand evaluation, and an Expectiminimax-based AI.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The key contribution is showing how AI search can be adapted to an uncertain environment using chance nodes and Monte Carlo sampling.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Our results show a meaningful trade-off: better strategic quality than a simple baseline, but with higher computation time.</a:t>
            </a:r>
          </a:p>
          <a:p>
            <a:pPr>
              <a:spcAft>
                <a:spcPts val="400"/>
              </a:spcAft>
              <a:defRPr sz="1400">
                <a:solidFill>
                  <a:srgbClr val="F5F4EF"/>
                </a:solidFill>
                <a:latin typeface="Aptos"/>
              </a:defRPr>
            </a:pPr>
            <a:r>
              <a:t>Overall, the project demonstrates practical AI decision-making under uncertainty in a clear, interactive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983480"/>
            <a:ext cx="5212080" cy="731520"/>
          </a:xfrm>
          <a:prstGeom prst="roundRect">
            <a:avLst/>
          </a:prstGeom>
          <a:solidFill>
            <a:srgbClr val="1B4232"/>
          </a:solidFill>
          <a:ln>
            <a:solidFill>
              <a:srgbClr val="C9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1480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4EF"/>
                </a:solidFill>
                <a:latin typeface="Aptos Display"/>
              </a:defRPr>
            </a:pPr>
            <a:r>
              <a:t>Thank you — 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