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by introducing all group members. Then state the project title and one-line goal: a poker simulator where an AI makes decisions under uncertainty using Expectiminimax.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replaces a generic introduction. Briefly define the problem, the goal, and the final output. Keep it under 30–35 seconds.</a:t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from top to bottom. Emphasize modular design: UI, engine, evaluator, AI, evaluation. This is much clearer than the previous unreadable diagram.</a:t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one hand from dealing to showdown, then mention the code modules that support this flow.</a:t>
            </a:r>
            <a:endParaRPr/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 say why minimax alone is not enough: poker has randomness. Then explain MAX, MIN, CHANCE and Monte Carlo in one minute. This replaces the unreadable old algorithm figure.</a:t>
            </a:r>
            <a:endParaRPr/>
          </a:p>
        </p:txBody>
      </p:sp>
      <p:sp>
        <p:nvSpPr>
          <p:cNvPr id="166" name="Google Shape;16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replaces screenshot clutter with clear feature cards. Mention that the system is built in Python using Streamlit, pandas, matplotlib, and numpy.</a:t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 that these charts were generated from the project simulation code. Highlight cumulative profit and the distribution of per-hand outcomes. Keep wording honest: “representative run”, not overclaiming.</a:t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trade-off: smarter decisions vs more computation. This is an excellent discussion slide and more useful than generic “results and analysis” text.</a:t>
            </a:r>
            <a:endParaRPr/>
          </a:p>
        </p:txBody>
      </p:sp>
      <p:sp>
        <p:nvSpPr>
          <p:cNvPr id="211" name="Google Shape;21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short and honest. These improvements are easy to justify and align with AI course expectations.</a:t>
            </a:r>
            <a:endParaRPr/>
          </a:p>
        </p:txBody>
      </p:sp>
      <p:sp>
        <p:nvSpPr>
          <p:cNvPr id="223" name="Google Shape;22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Wrap up with the four points on screen and then stop. The Q&amp;A happens after the code/demo part, but this works as a clean closing slide for the PPT section.</a:t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94360" y="1581900"/>
            <a:ext cx="6675000" cy="4389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905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575550" y="1581900"/>
            <a:ext cx="3977700" cy="4389000"/>
          </a:xfrm>
          <a:prstGeom prst="roundRect">
            <a:avLst>
              <a:gd fmla="val 16667" name="adj"/>
            </a:avLst>
          </a:prstGeom>
          <a:solidFill>
            <a:srgbClr val="29704C"/>
          </a:solidFill>
          <a:ln cap="flat" cmpd="sng" w="1905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95725" y="250324"/>
            <a:ext cx="10972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Development of a Poker Game Simulator</a:t>
            </a:r>
            <a:b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with Expectiminimax 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CSE440 — Artificial Intelligence | Section 01 | Instructor: Mohammad Shifat-E-Rabbi (MSRB)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68705" y="2304800"/>
            <a:ext cx="60351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Final Project Presentation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Kazi Eraj Al Minahi Turjo — 1831906642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Md. Sabbir Hossain — 2212642042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Nashita Tasneem Noor — 2132126642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Talha Imtiaz — 2012211642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7895590" y="1947660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078470" y="2020812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Game 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Texas Hold’em (simplified)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7895590" y="2770620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078470" y="2843772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AI core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Expectiminimax + Monte Carlo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7895590" y="3593580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078470" y="3666732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Interface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Streamlit tabs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7895590" y="4416539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8078470" y="4489691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Decision-making under uncertainty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7895590" y="5193780"/>
            <a:ext cx="502800" cy="502800"/>
          </a:xfrm>
          <a:prstGeom prst="ellipse">
            <a:avLst/>
          </a:prstGeom>
          <a:solidFill>
            <a:srgbClr val="C9A04A"/>
          </a:solidFill>
          <a:ln cap="flat" cmpd="sng" w="9525">
            <a:solidFill>
              <a:srgbClr val="F5F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8444230" y="5148060"/>
            <a:ext cx="502800" cy="502800"/>
          </a:xfrm>
          <a:prstGeom prst="ellipse">
            <a:avLst/>
          </a:prstGeom>
          <a:solidFill>
            <a:srgbClr val="DCDCDC"/>
          </a:solidFill>
          <a:ln cap="flat" cmpd="sng" w="9525">
            <a:solidFill>
              <a:srgbClr val="F5F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8992870" y="5193780"/>
            <a:ext cx="502800" cy="502800"/>
          </a:xfrm>
          <a:prstGeom prst="ellipse">
            <a:avLst/>
          </a:prstGeom>
          <a:solidFill>
            <a:srgbClr val="B12222"/>
          </a:solidFill>
          <a:ln cap="flat" cmpd="sng" w="9525">
            <a:solidFill>
              <a:srgbClr val="F5F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Project at a Glance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Why this project matters and what exactly we built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640080" y="1234440"/>
            <a:ext cx="3566160" cy="196596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04672" y="1344168"/>
            <a:ext cx="3236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Problem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04672" y="1737360"/>
            <a:ext cx="323697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Poker is an imperfect-information game.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AI does not know the opponent’s hidden cards.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Random card draws create uncertainty at every stage.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4343400" y="1234440"/>
            <a:ext cx="3566160" cy="196596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507992" y="1344168"/>
            <a:ext cx="3236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Goal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507992" y="1737360"/>
            <a:ext cx="323697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Build a playable Texas Hold’em simulator.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Use Expectiminimax to select strategic actions.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Show how AI search can work with randomness.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8046720" y="1234440"/>
            <a:ext cx="3474720" cy="196596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8211312" y="1344168"/>
            <a:ext cx="31455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Output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211312" y="1737360"/>
            <a:ext cx="31455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Interactive Streamlit interface.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Single-hand play and kid-friendly mode.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Simulation tab for repeated evaluation.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822960" y="3657600"/>
            <a:ext cx="10881360" cy="2103120"/>
          </a:xfrm>
          <a:prstGeom prst="roundRect">
            <a:avLst>
              <a:gd fmla="val 16667" name="adj"/>
            </a:avLst>
          </a:prstGeom>
          <a:solidFill>
            <a:srgbClr val="142D25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987552" y="3767328"/>
            <a:ext cx="10552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Key idea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87552" y="4160520"/>
            <a:ext cx="1055217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system combines a game engine, hand evaluation, Expectiminimax search, and Monte Carlo sampling. The AI examines legal actions, estimates expected value (EV), and chooses the action with the highest EV.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System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Clean overview of the main components and data flow</a:t>
            </a:r>
            <a:endParaRPr/>
          </a:p>
        </p:txBody>
      </p:sp>
      <p:pic>
        <p:nvPicPr>
          <p:cNvPr descr="architecture_fixed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325" y="1051525"/>
            <a:ext cx="10607053" cy="49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1212422" y="6003028"/>
            <a:ext cx="9601200" cy="50280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441035" y="6108194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UI controls the interaction; the game engine manages each hand; the AI reasons over actions under uncertainty.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Game Flow and Core Modules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How a hand progresses inside the simulator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82296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3152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Pre-flop</a:t>
            </a:r>
            <a:endParaRPr/>
          </a:p>
        </p:txBody>
      </p:sp>
      <p:cxnSp>
        <p:nvCxnSpPr>
          <p:cNvPr id="143" name="Google Shape;143;p16"/>
          <p:cNvCxnSpPr/>
          <p:nvPr/>
        </p:nvCxnSpPr>
        <p:spPr>
          <a:xfrm>
            <a:off x="1737360" y="22860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4" name="Google Shape;144;p16"/>
          <p:cNvSpPr/>
          <p:nvPr/>
        </p:nvSpPr>
        <p:spPr>
          <a:xfrm>
            <a:off x="274320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265176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Flop</a:t>
            </a:r>
            <a:endParaRPr/>
          </a:p>
        </p:txBody>
      </p:sp>
      <p:cxnSp>
        <p:nvCxnSpPr>
          <p:cNvPr id="146" name="Google Shape;146;p16"/>
          <p:cNvCxnSpPr/>
          <p:nvPr/>
        </p:nvCxnSpPr>
        <p:spPr>
          <a:xfrm>
            <a:off x="3657600" y="22860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7" name="Google Shape;147;p16"/>
          <p:cNvSpPr/>
          <p:nvPr/>
        </p:nvSpPr>
        <p:spPr>
          <a:xfrm>
            <a:off x="466344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57200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Turn</a:t>
            </a:r>
            <a:endParaRPr/>
          </a:p>
        </p:txBody>
      </p:sp>
      <p:cxnSp>
        <p:nvCxnSpPr>
          <p:cNvPr id="149" name="Google Shape;149;p16"/>
          <p:cNvCxnSpPr/>
          <p:nvPr/>
        </p:nvCxnSpPr>
        <p:spPr>
          <a:xfrm>
            <a:off x="5577840" y="22860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0" name="Google Shape;150;p16"/>
          <p:cNvSpPr/>
          <p:nvPr/>
        </p:nvSpPr>
        <p:spPr>
          <a:xfrm>
            <a:off x="658368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49224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River</a:t>
            </a:r>
            <a:endParaRPr/>
          </a:p>
        </p:txBody>
      </p:sp>
      <p:cxnSp>
        <p:nvCxnSpPr>
          <p:cNvPr id="152" name="Google Shape;152;p16"/>
          <p:cNvCxnSpPr/>
          <p:nvPr/>
        </p:nvCxnSpPr>
        <p:spPr>
          <a:xfrm>
            <a:off x="7498079" y="2286000"/>
            <a:ext cx="1005841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3" name="Google Shape;153;p16"/>
          <p:cNvSpPr/>
          <p:nvPr/>
        </p:nvSpPr>
        <p:spPr>
          <a:xfrm>
            <a:off x="8503920" y="1828800"/>
            <a:ext cx="914400" cy="914400"/>
          </a:xfrm>
          <a:prstGeom prst="ellipse">
            <a:avLst/>
          </a:prstGeom>
          <a:solidFill>
            <a:srgbClr val="602E15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412474" y="2834650"/>
            <a:ext cx="12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Showdown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2 private</a:t>
            </a:r>
            <a:b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cards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2834640" y="1970537"/>
            <a:ext cx="731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3 community</a:t>
            </a:r>
            <a:b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cards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754879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4th card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675120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5th card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595360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Best hand</a:t>
            </a:r>
            <a:b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wins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31520" y="3749039"/>
            <a:ext cx="10972800" cy="16002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96112" y="3858767"/>
            <a:ext cx="10643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Main source files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96112" y="4251959"/>
            <a:ext cx="1064361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deck.py: cards and shuffling | player.py: player states and opponent strategy | poker_rules.py: 7-card hand ranking | game_engine.py: flow of each hand | expectiminimax.py: search and EV estimation | evaluation.py: automated simulations | main.py: Streamlit entry point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Expectiminimax in Our Simulator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Simple, readable view of the search process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7680960" y="1325880"/>
            <a:ext cx="3931920" cy="452628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7845552" y="1435608"/>
            <a:ext cx="3602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How the AI decides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7845552" y="1828800"/>
            <a:ext cx="3602736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MAX node: the AI compares fold, call/check, and discrete raise sizes.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MIN node: the opponent response is approximated with a simple policy.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CHANCE node: unknown cards are sampled from the remaining deck.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Leaf evaluation: Monte Carlo rollouts estimate hand strength and expected payoff.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Final choice: the action with the highest expected value is selected.</a:t>
            </a:r>
            <a:endParaRPr/>
          </a:p>
        </p:txBody>
      </p:sp>
      <p:pic>
        <p:nvPicPr>
          <p:cNvPr id="174" name="Google Shape;174;p17" title="ChatGPT Image May 3, 2026, 10_20_0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3960"/>
            <a:ext cx="7376162" cy="4151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Implementation and User-Facing Features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What the user can actually do in the system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640080" y="1325880"/>
            <a:ext cx="3520440" cy="4023360"/>
          </a:xfrm>
          <a:prstGeom prst="roundRect">
            <a:avLst>
              <a:gd fmla="val 16667" name="adj"/>
            </a:avLst>
          </a:prstGeom>
          <a:solidFill>
            <a:srgbClr val="1A2A26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804672" y="1435608"/>
            <a:ext cx="3191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Play Game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04672" y="1828800"/>
            <a:ext cx="31912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Runs a hand between the AI and the opponent.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Shows chips, pot, stage, community cards, and winner.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Displays root decision analysis for AI actions.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4343400" y="1325880"/>
            <a:ext cx="3520440" cy="4023360"/>
          </a:xfrm>
          <a:prstGeom prst="roundRect">
            <a:avLst>
              <a:gd fmla="val 16667" name="adj"/>
            </a:avLst>
          </a:prstGeom>
          <a:solidFill>
            <a:srgbClr val="1A2A26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4507992" y="1435608"/>
            <a:ext cx="3191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Kid Play 🎈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507992" y="1828800"/>
            <a:ext cx="31912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Beginner-friendly tab with simpler interaction.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Helps explain poker stages and possible actions.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Useful for demonstration and teaching.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046720" y="1325880"/>
            <a:ext cx="3520440" cy="4023360"/>
          </a:xfrm>
          <a:prstGeom prst="roundRect">
            <a:avLst>
              <a:gd fmla="val 16667" name="adj"/>
            </a:avLst>
          </a:prstGeom>
          <a:solidFill>
            <a:srgbClr val="1A2A26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8211312" y="1435608"/>
            <a:ext cx="3191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Simulation &amp; Evaluation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211312" y="1828800"/>
            <a:ext cx="31912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Runs many automated hands.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Reports win rate, profit trends, and decision time.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Lets us compare the AI against a simpler baseline.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Experimental Evaluation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Representative automated run using the project code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685800" y="1280160"/>
            <a:ext cx="1965960" cy="1143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795528" y="1417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Hands simulated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200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A04A"/>
                </a:solidFill>
                <a:latin typeface="Arial"/>
                <a:ea typeface="Arial"/>
                <a:cs typeface="Arial"/>
                <a:sym typeface="Arial"/>
              </a:rPr>
              <a:t>AI vs baseline mode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2926080" y="1280160"/>
            <a:ext cx="1965960" cy="1143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3035808" y="1417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Expectiminimax win rate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55%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A04A"/>
                </a:solidFill>
                <a:latin typeface="Arial"/>
                <a:ea typeface="Arial"/>
                <a:cs typeface="Arial"/>
                <a:sym typeface="Arial"/>
              </a:rPr>
              <a:t>higher than baseline in this run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166360" y="1280160"/>
            <a:ext cx="1965960" cy="1143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276088" y="1417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Avg decision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0.050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A04A"/>
                </a:solidFill>
                <a:latin typeface="Arial"/>
                <a:ea typeface="Arial"/>
                <a:cs typeface="Arial"/>
                <a:sym typeface="Arial"/>
              </a:rPr>
              <a:t>more reasoning, higher cost</a:t>
            </a:r>
            <a:endParaRPr/>
          </a:p>
        </p:txBody>
      </p:sp>
      <p:pic>
        <p:nvPicPr>
          <p:cNvPr descr="cumulative_profit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697480"/>
            <a:ext cx="64008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lta_hist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2697480"/>
            <a:ext cx="4389120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What the Results Tell 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Expectiminimax gives better strategic quality, but at a higher computational cost</a:t>
            </a:r>
            <a:endParaRPr/>
          </a:p>
        </p:txBody>
      </p:sp>
      <p:pic>
        <p:nvPicPr>
          <p:cNvPr descr="comparison_bars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17320"/>
            <a:ext cx="5669280" cy="318897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6675120" y="1417320"/>
            <a:ext cx="4754880" cy="448056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839712" y="1527048"/>
            <a:ext cx="44256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Observations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839712" y="1920240"/>
            <a:ext cx="4425696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In our representative run, Expectiminimax achieved a higher win rate than the fallback baseline.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trade-off is time: search and Monte Carlo sampling make each decision slower.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This is expected because the AI is doing look-ahead reasoning instead of acting greedily.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Increasing depth or samples may improve decision quality, but also increases latency.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Limitations and Future Work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What can be improved next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31520" y="141732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896112" y="1527048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Current limitations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961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Simplified heads-up game setting.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Opponent model is basic rather than fully adaptive.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Search depth and sampling are limited to keep the UI responsive.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evaluation is representative, not a full tournament-scale benchmark.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6217920" y="141732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382512" y="1527048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Future improvements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3825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Stronger opponent modeling based on observed play style.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Alpha-beta style pruning or better abstractions for speed.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Richer GUI and more polished analytics dashboard.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Reinforcement learning or self-play for further improvement.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Final take-away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822960" y="1417320"/>
            <a:ext cx="10607040" cy="329184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987552" y="1527048"/>
            <a:ext cx="10277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Summary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987552" y="1920240"/>
            <a:ext cx="1027785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We developed a modular poker simulator that supports complete hand flow, hand evaluation, and an Expectiminimax-based AI.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key contribution is showing how AI search can be adapted to an uncertain environment using chance nodes and Monte Carlo sampling.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Our results show a meaningful trade-off: better strategic quality than a simple baseline, but with higher computation time.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Overall, the project demonstrates practical AI decision-making under uncertainty in a clear, interactive application.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3474720" y="4983480"/>
            <a:ext cx="5212080" cy="731520"/>
          </a:xfrm>
          <a:prstGeom prst="roundRect">
            <a:avLst>
              <a:gd fmla="val 16667" name="adj"/>
            </a:avLst>
          </a:prstGeom>
          <a:solidFill>
            <a:srgbClr val="1B4232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3657600" y="514807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Thank you — Questions are welcome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